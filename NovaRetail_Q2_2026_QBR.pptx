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Revenue by region (USD 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2025-Q3</c:v>
                </c:pt>
              </c:strCache>
            </c:strRef>
          </c:tx>
          <c:spPr>
            <a:solidFill>
              <a:srgbClr val="3059A7"/>
            </a:solidFill>
            <a:ln>
              <a:solidFill>
                <a:srgbClr val="3059A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310</c:v>
                </c:pt>
                <c:pt idx="2">
                  <c:v>260</c:v>
                </c:pt>
                <c:pt idx="3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2025-Q4</c:v>
                </c:pt>
              </c:strCache>
            </c:strRef>
          </c:tx>
          <c:spPr>
            <a:solidFill>
              <a:srgbClr val="009688"/>
            </a:solidFill>
            <a:ln>
              <a:solidFill>
                <a:srgbClr val="009688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460</c:v>
                </c:pt>
                <c:pt idx="1">
                  <c:v>350</c:v>
                </c:pt>
                <c:pt idx="2">
                  <c:v>300</c:v>
                </c:pt>
                <c:pt idx="3">
                  <c:v>165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2026-Q1</c:v>
                </c:pt>
              </c:strCache>
            </c:strRef>
          </c:tx>
          <c:spPr>
            <a:solidFill>
              <a:srgbClr val="E87E04"/>
            </a:solidFill>
            <a:ln>
              <a:solidFill>
                <a:srgbClr val="E87E04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440</c:v>
                </c:pt>
                <c:pt idx="1">
                  <c:v>330</c:v>
                </c:pt>
                <c:pt idx="2">
                  <c:v>305</c:v>
                </c:pt>
                <c:pt idx="3">
                  <c:v>150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2026-Q2</c:v>
                </c:pt>
              </c:strCache>
            </c:strRef>
          </c:tx>
          <c:spPr>
            <a:solidFill>
              <a:srgbClr val="BE3434"/>
            </a:solidFill>
            <a:ln>
              <a:solidFill>
                <a:srgbClr val="BE3434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465</c:v>
                </c:pt>
                <c:pt idx="1">
                  <c:v>345</c:v>
                </c:pt>
                <c:pt idx="2">
                  <c:v>330</c:v>
                </c:pt>
                <c:pt idx="3">
                  <c:v>140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NPS trend by region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3059A7"/>
            </a:solidFill>
            <a:ln>
              <a:solidFill>
                <a:srgbClr val="3059A7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54</c:v>
                </c:pt>
                <c:pt idx="2">
                  <c:v>53</c:v>
                </c:pt>
                <c:pt idx="3">
                  <c:v>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009688"/>
            </a:solidFill>
            <a:ln>
              <a:solidFill>
                <a:srgbClr val="009688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50</c:v>
                </c:pt>
                <c:pt idx="2">
                  <c:v>51</c:v>
                </c:pt>
                <c:pt idx="3">
                  <c:v>53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APAC</c:v>
                </c:pt>
              </c:strCache>
            </c:strRef>
          </c:tx>
          <c:spPr>
            <a:solidFill>
              <a:srgbClr val="E87E04"/>
            </a:solidFill>
            <a:ln>
              <a:solidFill>
                <a:srgbClr val="E87E0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58</c:v>
                </c:pt>
                <c:pt idx="1">
                  <c:v>60</c:v>
                </c:pt>
                <c:pt idx="2">
                  <c:v>61</c:v>
                </c:pt>
                <c:pt idx="3">
                  <c:v>62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Latin America</c:v>
                </c:pt>
              </c:strCache>
            </c:strRef>
          </c:tx>
          <c:spPr>
            <a:solidFill>
              <a:srgbClr val="BE3434"/>
            </a:solidFill>
            <a:ln>
              <a:solidFill>
                <a:srgbClr val="BE3434"/>
              </a:solidFill>
            </a:ln>
          </c:spPr>
          <c:cat>
            <c:strRef>
              <c:f>Sheet1!$A$2:$A$5</c:f>
              <c:strCache>
                <c:ptCount val="4"/>
                <c:pt idx="0">
                  <c:v>2025-Q3</c:v>
                </c:pt>
                <c:pt idx="1">
                  <c:v>2025-Q4</c:v>
                </c:pt>
                <c:pt idx="2">
                  <c:v>2026-Q1</c:v>
                </c:pt>
                <c:pt idx="3">
                  <c:v>2026-Q2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38</c:v>
                </c:pt>
                <c:pt idx="1">
                  <c:v>35</c:v>
                </c:pt>
                <c:pt idx="2">
                  <c:v>32</c:v>
                </c:pt>
                <c:pt idx="3">
                  <c:v>29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Q2 2026 stockout rate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 (%)</c:v>
                </c:pt>
              </c:strCache>
            </c:strRef>
          </c:tx>
          <c:spPr>
            <a:solidFill>
              <a:srgbClr val="3059A7"/>
            </a:solidFill>
            <a:ln>
              <a:solidFill>
                <a:srgbClr val="3059A7"/>
              </a:solidFill>
            </a:ln>
          </c:spPr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APAC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4.0</c:v>
                </c:pt>
                <c:pt idx="2">
                  <c:v>8.5</c:v>
                </c:pt>
                <c:pt idx="3">
                  <c:v>12.5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sz="1300" i="0">
                <a:solidFill>
                  <a:srgbClr val="CADCFC"/>
                </a:solidFill>
                <a:latin typeface="Aptos"/>
              </a:rPr>
              <a:t>Q2 2026 • Executive Review</a:t>
            </a:r>
            <a:endParaRPr lang="en-US" sz="1500" dirty="0"/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$1.28B</a:t>
            </a:r>
            <a:endParaRPr lang="en-US" sz="3200" dirty="0"/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Q2 revenue</a:t>
            </a:r>
            <a:endParaRPr lang="en-US" sz="1100" dirty="0"/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+4.5%</a:t>
            </a:r>
            <a:endParaRPr lang="en-US" sz="3200" dirty="0"/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Revenue vs Q1 2026</a:t>
            </a:r>
            <a:endParaRPr lang="en-US" sz="1100" dirty="0"/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2800" b="1">
                <a:solidFill>
                  <a:srgbClr val="FFFFFF"/>
                </a:solidFill>
                <a:latin typeface="Aptos"/>
              </a:rPr>
              <a:t>49.8</a:t>
            </a:r>
            <a:endParaRPr lang="en-US" sz="3200" dirty="0"/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1200">
                <a:solidFill>
                  <a:srgbClr val="CADCFC"/>
                </a:solidFill>
                <a:latin typeface="Aptos"/>
              </a:rPr>
              <a:t>Average regional NPS</a:t>
            </a:r>
            <a:endParaRPr lang="en-US" sz="1100" dirty="0"/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sz="1700">
                <a:solidFill>
                  <a:srgbClr val="FFFFFF"/>
                </a:solidFill>
                <a:latin typeface="Aptos"/>
              </a:rPr>
              <a:t>NovaRetail closed Q2 at $1.28B revenue, up 4.5% sequentially. APAC led momentum with APAC revenue growth of 8.2% and the highest NPS at 62. North America remained the largest market at $465M. Latin America is the priority risk: revenue declined 6.7%, while returns, stockouts and fraud all worsened.</a:t>
            </a:r>
            <a:endParaRPr lang="en-US" sz="1800" dirty="0"/>
          </a:p>
        </p:txBody>
      </p:sp>
      <p:sp>
        <p:nvSpPr>
          <p:cNvPr id="17" name="footer_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18" name="page_num_1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icon_overall"/>
          <p:cNvSpPr/>
          <p:nvPr/>
        </p:nvSpPr>
        <p:spPr>
          <a:xfrm>
            <a:off x="10058400" y="3886200"/>
            <a:ext cx="1581912" cy="1581912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sz="2500" b="1" i="0">
                <a:solidFill>
                  <a:srgbClr val="1E2761"/>
                </a:solidFill>
                <a:latin typeface="Aptos"/>
              </a:rPr>
              <a:t>APAC accelerates while Latin America contracts</a:t>
            </a:r>
            <a:endParaRPr lang="en-US" sz="2400" dirty="0"/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sz="1500">
                <a:solidFill>
                  <a:srgbClr val="1E2761"/>
                </a:solidFill>
                <a:latin typeface="Aptos"/>
              </a:rPr>
              <a:t>• APAC delivered the strongest Q2 growth at 8.2% QoQ, reaching $330M.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North America generated $465M and remains 36% of group revenue.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Europe recovered 4.5% QoQ to $345M.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Latin America fell 6.7% QoQ; returns rose to 8.2% even as marketing spend decreased.</a:t>
            </a:r>
          </a:p>
        </p:txBody>
      </p:sp>
      <p:sp>
        <p:nvSpPr>
          <p:cNvPr id="8" name="footer_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2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icon_growth"/>
          <p:cNvSpPr/>
          <p:nvPr/>
        </p:nvSpPr>
        <p:spPr>
          <a:xfrm>
            <a:off x="7543800" y="5166360"/>
            <a:ext cx="1051560" cy="1051560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sz="2400" b="1" i="0">
                <a:solidFill>
                  <a:srgbClr val="1E2761"/>
                </a:solidFill>
                <a:latin typeface="Aptos"/>
              </a:rPr>
              <a:t>Customer experience improves everywhere except Latin America</a:t>
            </a:r>
            <a:endParaRPr lang="en-US" sz="2400" dirty="0"/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sz="1500">
                <a:solidFill>
                  <a:srgbClr val="1E2761"/>
                </a:solidFill>
                <a:latin typeface="Aptos"/>
              </a:rPr>
              <a:t>• APAC leads at NPS 62 and 92% CSAT, with the fastest delivery at 2.2 days.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Europe improved to NPS 53, up 5 points since Q3 2025.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North America remains stable at NPS 55 and 89% CSAT.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E2761"/>
                </a:solidFill>
                <a:latin typeface="Aptos"/>
              </a:rPr>
              <a:t>• Latin America dropped to NPS 29; delivery lengthened to 7.5 days and tickets reached 31K.</a:t>
            </a:r>
          </a:p>
        </p:txBody>
      </p:sp>
      <p:sp>
        <p:nvSpPr>
          <p:cNvPr id="8" name="footer_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3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icon_customer"/>
          <p:cNvSpPr/>
          <p:nvPr/>
        </p:nvSpPr>
        <p:spPr>
          <a:xfrm>
            <a:off x="7543800" y="5166360"/>
            <a:ext cx="1051560" cy="1051560"/>
          </a:xfrm>
          <a:prstGeom prst="ellipse">
            <a:avLst/>
          </a:prstGeom>
          <a:solidFill>
            <a:srgbClr val="3059A7"/>
          </a:solidFill>
          <a:ln>
            <a:solidFill>
              <a:srgbClr val="305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sz="2400" b="1" i="0">
                <a:solidFill>
                  <a:srgbClr val="1E2761"/>
                </a:solidFill>
                <a:latin typeface="Aptos"/>
              </a:rPr>
              <a:t>Operational strain is concentrated in Latin America and APAC</a:t>
            </a:r>
            <a:endParaRPr lang="en-US" sz="2400" dirty="0"/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sz="1450">
                <a:solidFill>
                  <a:srgbClr val="1E2761"/>
                </a:solidFill>
                <a:latin typeface="Aptos"/>
              </a:rPr>
              <a:t>• Latin America has the highest stockout rate at 12.5% and slowest returns at 10 days.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E2761"/>
                </a:solidFill>
                <a:latin typeface="Aptos"/>
              </a:rPr>
              <a:t>• Fraud incidents in Latin America rose to 30, versus 18 in Q3 2025.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E2761"/>
                </a:solidFill>
                <a:latin typeface="Aptos"/>
              </a:rPr>
              <a:t>• APAC capacity reached 92% and stockouts climbed to 8.5%, signalling a growth constraint.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1E2761"/>
                </a:solidFill>
                <a:latin typeface="Aptos"/>
              </a:rPr>
              <a:t>• North America and Europe are comparatively controlled, with Q2 stockouts at 3.8% and 4.0%.</a:t>
            </a:r>
          </a:p>
        </p:txBody>
      </p:sp>
      <p:sp>
        <p:nvSpPr>
          <p:cNvPr id="8" name="footer_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9" name="page_num_4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417320"/>
          <a:ext cx="6675120" cy="4800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icon_risk"/>
          <p:cNvSpPr/>
          <p:nvPr/>
        </p:nvSpPr>
        <p:spPr>
          <a:xfrm>
            <a:off x="7543800" y="5166360"/>
            <a:ext cx="1051560" cy="1051560"/>
          </a:xfrm>
          <a:prstGeom prst="ellipse">
            <a:avLst/>
          </a:prstGeom>
          <a:solidFill>
            <a:srgbClr val="BE3434"/>
          </a:solidFill>
          <a:ln>
            <a:solidFill>
              <a:srgbClr val="BE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sz="1800">
                <a:solidFill>
                  <a:srgbClr val="FFFFFF"/>
                </a:solidFill>
                <a:latin typeface="Aptos"/>
              </a:rPr>
              <a:t>• EXPAND APAC CAPACITY: create a Q3 capacity plan to bring warehouse utilisation below 90% and arrest the rise in stockouts.</a:t>
            </a:r>
            <a:endParaRPr lang="en-US" sz="1600" dirty="0"/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STABILISE LATIN AMERICA FULFILMENT: launch a 30-day root-cause sprint across inventory allocation, carrier performance and return processing.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TIGHTEN FRAUD CONTROLS: review high-risk transactions and payment rules in Latin America, where incidents reached 30 in Q2.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FFFFFF"/>
                </a:solidFill>
                <a:latin typeface="Aptos"/>
              </a:rPr>
              <a:t>• REALLOCATE GROWTH INVESTMENT: protect APAC momentum while tying Latin America marketing spend to service-level recovery gates.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spcAft>
                <a:spcPts val="0"/>
              </a:spcAft>
              <a:buNone/>
            </a:pPr>
            <a:r>
              <a:rPr sz="1500" b="1" i="0">
                <a:solidFill>
                  <a:srgbClr val="CADCFC"/>
                </a:solidFill>
                <a:latin typeface="Aptos"/>
              </a:rPr>
              <a:t>Leadership decision: fund capacity where growth is proven and make Latin America recovery the next-quarter operating priority.</a:t>
            </a:r>
            <a:endParaRPr lang="en-US" sz="1400" dirty="0"/>
          </a:p>
        </p:txBody>
      </p:sp>
      <p:sp>
        <p:nvSpPr>
          <p:cNvPr id="7" name="footer_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NovaRetail Quarterly Business Review  —  Capstone Template</a:t>
            </a:r>
            <a:endParaRPr lang="en-US" sz="950" dirty="0"/>
          </a:p>
        </p:txBody>
      </p:sp>
      <p:sp>
        <p:nvSpPr>
          <p:cNvPr id="8" name="page_num_5"/>
          <p:cNvSpPr txBox="1"/>
          <p:nvPr/>
        </p:nvSpPr>
        <p:spPr>
          <a:xfrm>
            <a:off x="1127455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icon_action"/>
          <p:cNvSpPr/>
          <p:nvPr/>
        </p:nvSpPr>
        <p:spPr>
          <a:xfrm>
            <a:off x="7589520" y="1463040"/>
            <a:ext cx="1463040" cy="1463040"/>
          </a:xfrm>
          <a:prstGeom prst="ellipse">
            <a:avLst/>
          </a:prstGeom>
          <a:solidFill>
            <a:srgbClr val="E87E04"/>
          </a:solidFill>
          <a:ln>
            <a:solidFill>
              <a:srgbClr val="E87E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